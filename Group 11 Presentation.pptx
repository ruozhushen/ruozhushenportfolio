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layfair Display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668173fd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668173fd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2091e46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62091e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903fad2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1903fad2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903fad2a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1903fad2a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62091e46c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62091e4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664f2796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664f2796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2091e46c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62091e4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668173fd2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668173fd2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62091e46c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62091e4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68173fd2_1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668173fd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6dd5e43c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6dd5e43c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6a35eb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66a35eb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cmr.com/article/disaster-supply-chains-depend-on-alan-to-get-the-logistics-right" TargetMode="External"/><Relationship Id="rId4" Type="http://schemas.openxmlformats.org/officeDocument/2006/relationships/hyperlink" Target="https://www.sciencedirect.com/science/article/abs/pii/S0007681312001279" TargetMode="External"/><Relationship Id="rId5" Type="http://schemas.openxmlformats.org/officeDocument/2006/relationships/hyperlink" Target="http://execdev.unc.edu/resilient-supply-chains/?utm_source=copilot.com" TargetMode="External"/><Relationship Id="rId6" Type="http://schemas.openxmlformats.org/officeDocument/2006/relationships/hyperlink" Target="https://doi.org/10.1007/s40171-025-00458-8" TargetMode="External"/><Relationship Id="rId7" Type="http://schemas.openxmlformats.org/officeDocument/2006/relationships/hyperlink" Target="http://warwick.ac.uk/WMG" TargetMode="External"/><Relationship Id="rId8" Type="http://schemas.openxmlformats.org/officeDocument/2006/relationships/hyperlink" Target="http://www.fedsmallbusiness.org/topics/natural-disaster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.supplychaindive.com/news/toyota-semiconductor-shortage-earthquake-inventory-ihs-gartner-forecast-2022/600193/" TargetMode="External"/><Relationship Id="rId4" Type="http://schemas.openxmlformats.org/officeDocument/2006/relationships/hyperlink" Target="http://www.bloomberg.com/news/articles/2016-04-18/toyota-seen-losing-277-million-from-japan-earthquake-stoppages" TargetMode="External"/><Relationship Id="rId5" Type="http://schemas.openxmlformats.org/officeDocument/2006/relationships/hyperlink" Target="http://d3.harvard.edu/platform-rctom/submission/the-last-dance-of-just-in-time/" TargetMode="External"/><Relationship Id="rId6" Type="http://schemas.openxmlformats.org/officeDocument/2006/relationships/hyperlink" Target="http://www.bloomberg.com/news/articles/2011-10-20/worst-thai-floods-in-50-years-hit-apple-toyota-supply-chains" TargetMode="External"/><Relationship Id="rId7" Type="http://schemas.openxmlformats.org/officeDocument/2006/relationships/hyperlink" Target="http://www.forbes.com/sites/greatspeculations/2011/11/15/apple-still-on-track-for-502-share-price-despite-thai-floods/" TargetMode="External"/><Relationship Id="rId8" Type="http://schemas.openxmlformats.org/officeDocument/2006/relationships/hyperlink" Target="http://arstechnica.com/gadgets/2011/12/thai-flooding-finally-hits-apple-with-2tb-drive-shorta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460950" y="1568538"/>
            <a:ext cx="8222100" cy="14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layfair Display"/>
                <a:ea typeface="Playfair Display"/>
                <a:cs typeface="Playfair Display"/>
                <a:sym typeface="Playfair Display"/>
              </a:rPr>
              <a:t>Building Resilient Supply Chains for Natural Disasters</a:t>
            </a: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540450" y="3152563"/>
            <a:ext cx="80631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By: Arushi Arora, Chenxuan Fu, Mason Lo, Ruozhu Shen, and Srihan Yerubandi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233800" y="4306750"/>
            <a:ext cx="4233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11: Introduction to SCM: 33:799:301:08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March 24, 2026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830050" y="1132063"/>
            <a:ext cx="123000" cy="3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124450" y="1132038"/>
            <a:ext cx="7189500" cy="55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850" lIns="77850" spcFirstLastPara="1" rIns="77850" wrap="square" tIns="7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124450" y="1890391"/>
            <a:ext cx="7189500" cy="55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850" lIns="77850" spcFirstLastPara="1" rIns="77850" wrap="square" tIns="7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124450" y="2648745"/>
            <a:ext cx="7189500" cy="55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850" lIns="77850" spcFirstLastPara="1" rIns="77850" wrap="square" tIns="7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1124450" y="3354716"/>
            <a:ext cx="7189500" cy="55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850" lIns="77850" spcFirstLastPara="1" rIns="77850" wrap="square" tIns="7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1124450" y="4060686"/>
            <a:ext cx="7189500" cy="55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7850" lIns="77850" spcFirstLastPara="1" rIns="77850" wrap="square" tIns="77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124450" y="1193388"/>
            <a:ext cx="71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Disaster Risks and Their Effects on the Supply Chain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1124450" y="4122038"/>
            <a:ext cx="71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for Disaster-Resilient Supply Chains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1124450" y="2710088"/>
            <a:ext cx="71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Resilience Strategies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1124450" y="3416063"/>
            <a:ext cx="71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Companies Effectively Managing Disaster Risks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1124450" y="1951738"/>
            <a:ext cx="71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Major Disruptions Caused by Natural Disasters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4"/>
          <p:cNvSpPr txBox="1"/>
          <p:nvPr>
            <p:ph type="title"/>
          </p:nvPr>
        </p:nvSpPr>
        <p:spPr>
          <a:xfrm>
            <a:off x="585150" y="170450"/>
            <a:ext cx="7973700" cy="8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"/>
                <a:ea typeface="Playfair Display"/>
                <a:cs typeface="Playfair Display"/>
                <a:sym typeface="Playfair Display"/>
              </a:rPr>
              <a:t>Agenda</a:t>
            </a:r>
            <a:endParaRPr sz="3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49225" y="4694075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Arushi Arora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0" y="0"/>
            <a:ext cx="9144000" cy="110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15800" y="1107600"/>
            <a:ext cx="4456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Natural Disaster Risks: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Natural disasters are composed of geophysical, meteorological, and hydrological events. These include earthquakes, volcanic eruptions, hurricanes, floods, etc.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Natural disasters pose severe threats to supply chains. As supply networks have grown more complex, the blast radius of localized disasters have expanded globally.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572000" y="1107600"/>
            <a:ext cx="44562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Effects on Supply Chains: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First order effects: The immediate damage from the epicenter of the event.</a:t>
            </a:r>
            <a:r>
              <a:rPr lang="en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These include loss of inventory, equipment damage, and facility condemnation.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Second order effects: The disruption spreads beyond the impact zone. These include transportation bottlenecks, utility blackouts, and telecommunications failures.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Third order effects: The delayed reactions to the event, driven by the bullwhip effect. These include demand surges, panic buying, and cost inflation.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492200" y="112800"/>
            <a:ext cx="7973700" cy="8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layfair Display"/>
                <a:ea typeface="Playfair Display"/>
                <a:cs typeface="Playfair Display"/>
                <a:sym typeface="Playfair Display"/>
              </a:rPr>
              <a:t>Natural Disaster Risks and Their Effects on the Supply Chain</a:t>
            </a:r>
            <a:endParaRPr sz="3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1525" y="4688225"/>
            <a:ext cx="9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Mason 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575" y="3697950"/>
            <a:ext cx="2362576" cy="13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60950" y="1645350"/>
            <a:ext cx="8222100" cy="18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Examples of Major Disruptions Caused by Natural Disasters</a:t>
            </a:r>
            <a:endParaRPr b="1"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6255875" y="3707875"/>
            <a:ext cx="290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7615425" y="4839275"/>
            <a:ext cx="15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1525" y="4688225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Chenxuan Fu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105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68036" y="1132899"/>
            <a:ext cx="2602260" cy="1629665"/>
          </a:xfrm>
          <a:custGeom>
            <a:rect b="b" l="l" r="r" t="t"/>
            <a:pathLst>
              <a:path extrusionOk="0" h="3259330" w="5204520">
                <a:moveTo>
                  <a:pt x="0" y="0"/>
                </a:moveTo>
                <a:lnTo>
                  <a:pt x="5204520" y="0"/>
                </a:lnTo>
                <a:lnTo>
                  <a:pt x="5204520" y="3259330"/>
                </a:lnTo>
                <a:lnTo>
                  <a:pt x="0" y="3259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7"/>
          <p:cNvSpPr/>
          <p:nvPr/>
        </p:nvSpPr>
        <p:spPr>
          <a:xfrm>
            <a:off x="368036" y="2843075"/>
            <a:ext cx="2602260" cy="1951695"/>
          </a:xfrm>
          <a:custGeom>
            <a:rect b="b" l="l" r="r" t="t"/>
            <a:pathLst>
              <a:path extrusionOk="0" h="3903390" w="5204520">
                <a:moveTo>
                  <a:pt x="0" y="0"/>
                </a:moveTo>
                <a:lnTo>
                  <a:pt x="5204520" y="0"/>
                </a:lnTo>
                <a:lnTo>
                  <a:pt x="5204520" y="3903389"/>
                </a:lnTo>
                <a:lnTo>
                  <a:pt x="0" y="39033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7"/>
          <p:cNvSpPr txBox="1"/>
          <p:nvPr/>
        </p:nvSpPr>
        <p:spPr>
          <a:xfrm>
            <a:off x="1945675" y="322950"/>
            <a:ext cx="605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Major Natural Disaster Disruptions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447700" y="2843075"/>
            <a:ext cx="5456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Japan Earthquake &amp; Tsunami (2011)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disaster shut down key automotive and semiconductor factories.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It caused shortages of critical components like chips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Companies such as Toyota and Sony faced production delays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just-in-time system failed due to lack of inventory</a:t>
            </a:r>
            <a:endParaRPr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496900" y="1135027"/>
            <a:ext cx="53580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Hurricane Katrina (2005, USA)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Hurricane Katrina shut down the Port of New Orleans, disrupting a major trade route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It reduced U.S. oil supply and caused fuel shortages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1" marL="304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i="0" lang="en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Transportation damage led to nationwide logistics delays</a:t>
            </a:r>
            <a:endParaRPr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61525" y="4743300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Chenxuan Fu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5871000" y="0"/>
            <a:ext cx="32730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098550" y="2017650"/>
            <a:ext cx="281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Supply Chain Impact Analysis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67600" y="1049325"/>
            <a:ext cx="52086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disasters damage infrastructure such as ports, roads, and warehouses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disrupt suppliers and delay transportation flows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27250" y="682875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Impacts: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467600" y="3647925"/>
            <a:ext cx="5168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disasters can quickly spread through global supply chains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Overdependence on a single supplier increases vulnerability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67602" y="3281475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27250" y="2348625"/>
            <a:ext cx="52086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disruptions lead to inventory shortages and production stoppages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1" marL="254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also increase operational costs for companies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467602" y="1982169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Consequences: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1525" y="4688225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Chenxuan Fu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Resilience Strategies</a:t>
            </a:r>
            <a:endParaRPr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3850" y="466946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Srihan Yerubandi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0" y="0"/>
            <a:ext cx="9144000" cy="939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19400" y="1340100"/>
            <a:ext cx="2880600" cy="338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Having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multiple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qualified suppliers for key materials in order to avoid dependence on a single supplier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Spreading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your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suppliers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across different regions in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order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to reduce your exposure to localized natural disasters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Rapidly shifting your orders when one supplier is disrupted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Ensuring that your suppliers use different production techniques so a disruption affecting one technique doesn’t affect all of them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3141550" y="939900"/>
            <a:ext cx="2880600" cy="418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Using historical disaster patterns and data to identify which suppliers, facilities, and transportation routes sit in high-risk geographic zones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Assessing how parts of the supply chain are exposed to natural hazards in order to pinpoint the most vulnerable locations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Redesigning the supply chain in order to shift critical operations from disaster-prone regions to lower-risk areas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Positioning your inventory, capacity, and key logistics in safer locations ahead of seasonal disaster risks to maintain continuity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163710" y="1140000"/>
            <a:ext cx="2880600" cy="378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Maintaining additional safety stock of critical materials in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advance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for short-term disruptions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Distributing your inventory across multiple warehouses so a single facility outage doesn’t halt company operations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Providing enough extra inventory to keep operations running while backup suppliers or logistics changes take effect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Reducing reliance on emergency sourcing by ensuring essential inputs are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available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during shutdowns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8192358" y="4880490"/>
            <a:ext cx="124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4" name="Google Shape;144;p20"/>
          <p:cNvSpPr txBox="1"/>
          <p:nvPr/>
        </p:nvSpPr>
        <p:spPr>
          <a:xfrm>
            <a:off x="59800" y="4676975"/>
            <a:ext cx="14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Srihan Yerubandi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19500" y="200550"/>
            <a:ext cx="2880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Multi-Sourcing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3141600" y="23550"/>
            <a:ext cx="2880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Geographic Risk Mapping</a:t>
            </a:r>
            <a:endParaRPr sz="2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6163700" y="200550"/>
            <a:ext cx="2880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Buffer Inventory</a:t>
            </a:r>
            <a:endParaRPr sz="23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460950" y="1630350"/>
            <a:ext cx="8222100" cy="18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Examples of Companies Effectively Managing</a:t>
            </a:r>
            <a:endParaRPr sz="4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Disaster Risks</a:t>
            </a:r>
            <a:endParaRPr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49225" y="4694075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Arushi Arora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123475" y="1255675"/>
            <a:ext cx="4321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2011 Earthquake and tsunami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77% (~$1.4B) fall in profits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Shortage of Japanese manufactured parts → 30% production drop in North America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Revised Toyota Production Plan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Standardized parts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Multi-sourcing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Required suppliers to hold inventory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2016 Earthquakes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Resumed production in 2-4 weeks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Lost limited to ~$277 M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4697250" y="1255675"/>
            <a:ext cx="4321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Thai floods in 2011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hard-drive shortage → Risk to PC manufacturers, including Apple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Apple Response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Just-In-Time model → supply chain visibility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shortages &amp; shifted production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disruption/delays  to Macbooks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share price + Mac sale growth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314250" y="360775"/>
            <a:ext cx="3917400" cy="89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Toyota</a:t>
            </a:r>
            <a:endParaRPr b="1"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899300" y="360775"/>
            <a:ext cx="3917400" cy="89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Apple</a:t>
            </a:r>
            <a:endParaRPr b="1" sz="3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17898" l="0" r="0" t="16299"/>
          <a:stretch/>
        </p:blipFill>
        <p:spPr>
          <a:xfrm>
            <a:off x="2275400" y="4305147"/>
            <a:ext cx="2169576" cy="80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9225" y="4694075"/>
            <a:ext cx="11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Arushi Arora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50372" l="9310" r="10433" t="6679"/>
          <a:stretch/>
        </p:blipFill>
        <p:spPr>
          <a:xfrm>
            <a:off x="6194450" y="4305150"/>
            <a:ext cx="2254933" cy="8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4">
            <a:alphaModFix/>
          </a:blip>
          <a:srcRect b="7668" l="9311" r="51925" t="51972"/>
          <a:stretch/>
        </p:blipFill>
        <p:spPr>
          <a:xfrm>
            <a:off x="7325100" y="4353606"/>
            <a:ext cx="1089144" cy="754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Framework for Disaster-Resilient</a:t>
            </a:r>
            <a:endParaRPr sz="43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latin typeface="Playfair Display"/>
                <a:ea typeface="Playfair Display"/>
                <a:cs typeface="Playfair Display"/>
                <a:sym typeface="Playfair Display"/>
              </a:rPr>
              <a:t>Supply Chains</a:t>
            </a:r>
            <a:endParaRPr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49225" y="4694075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Ruozhu Shen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0" y="0"/>
            <a:ext cx="9144000" cy="994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71700" y="180750"/>
            <a:ext cx="90006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Five Key Elements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240600" y="1075300"/>
            <a:ext cx="86805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Risk Identification</a:t>
            </a:r>
            <a:endParaRPr b="1"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Companies must identify potential risks in their supply chains. This includes understanding which suppliers, factories, or transportation routes are vulnerable to natural disasters.</a:t>
            </a:r>
            <a:r>
              <a:rPr lang="en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240600" y="2078625"/>
            <a:ext cx="3720300" cy="2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2. Supplier Diversification</a:t>
            </a:r>
            <a:endParaRPr b="1"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Companies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hould diversify their suppliers. Relying on only one supplier in a single region can be very risky. By working with multiple suppliers in different locations, businesses can continue production even if one supplier is affected by a disaster.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24" title="截屏2026-03-20 05.18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424" y="2028575"/>
            <a:ext cx="4950352" cy="28603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4"/>
          <p:cNvSpPr txBox="1"/>
          <p:nvPr/>
        </p:nvSpPr>
        <p:spPr>
          <a:xfrm>
            <a:off x="49225" y="4694075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Ruozhu Shen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0" y="0"/>
            <a:ext cx="9144000" cy="994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71700" y="180750"/>
            <a:ext cx="90006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Five Key Elements Cont.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49225" y="4694075"/>
            <a:ext cx="12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Ruozhu Shen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252895" y="1147975"/>
            <a:ext cx="86382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3. Inventory and Capacity Buffers</a:t>
            </a:r>
            <a:endParaRPr b="1"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Companies should maintain safety stock and backup production capacity. Extra inventory and alternative production facilities can help companies continue operations when disruptions occur.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252895" y="2203675"/>
            <a:ext cx="86382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4. Digital Visibility</a:t>
            </a:r>
            <a:endParaRPr b="1"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Technology plays an important role. Digital tools and real-time data systems allow companies to monitor their supply chains and respond quickly when problems arise.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252900" y="3228025"/>
            <a:ext cx="57642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600">
                <a:latin typeface="Times New Roman"/>
                <a:ea typeface="Times New Roman"/>
                <a:cs typeface="Times New Roman"/>
                <a:sym typeface="Times New Roman"/>
              </a:rPr>
              <a:t>5. Recovery and Communication plans</a:t>
            </a:r>
            <a:endParaRPr b="1"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42931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Companies need clear recovery plans and strong communication with suppliers and partners. A well-prepared recovery strategy helps businesses restore operations faster after a disaster.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3" name="Google Shape;193;p25" title="截屏2026-03-20 05.29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3350" y="3004017"/>
            <a:ext cx="2968952" cy="20410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0" y="0"/>
            <a:ext cx="9144000" cy="110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460950" y="1215950"/>
            <a:ext cx="8222100" cy="3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Straight, Brian. “Disaster Supply Chains Depend on ALAN to Get the Logistics Right.” Supply Chain Management Review, 5 Sept. 2024. Web. 24 Mar. 2026,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https://www.scmr.com/article/disaster-supply-chains-depend-on-alan-to-get-the-logistics-right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Park, YoungWon, Paul Hong, and James Jungbae Roh.“Supply Chain Lessons from the Catastrophic Natural Disaster in Japan.” Business Horizons, vol. 56, no. 1, 2013, pp. 75–85. Web. 24 Mar. 2026.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https://www.sciencedirect.com/science/article/abs/pii/S0007681312001279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Development, UNC Executive. “Building Resilient Supply Chains in a Changing World.” UNC Executive Development, 20 Nov. 2025,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execdev.unc.edu/resilient-supply-chains/?utm_source=copilot.com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Shekarabi, Seyed Ashkan Hosseini, et al. “Supply Chain Resilience: A Critical Review of Risk Mitigation, Robust Optimisation, and Technological Solutions and Future Research Directions.” Global Journal of Flexible Systems Management, vol. 26, no. 3, July 2025, pp. 681–735.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https://doi.org/10.1007/s40171-025-00458-8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22 Mar. 2026.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WMG, University of Warwick, et al. “Supply Chain Resilience Framework and a Methodology for Creating Supply Chain Resilience Index.” Supply Chain Resilience for Manufacturing Supply Chains, Digital Catapult and Made Smarter Innovation, 2023, </a:t>
            </a:r>
            <a:r>
              <a:rPr i="1"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warwick.ac.uk/WMG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22 Mar. 2026.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“Natural Disasters.”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 Small Business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www.fedsmallbusiness.org/topics/natural-disasters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22 Mar. 2026.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3072000" y="3262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0" y="0"/>
            <a:ext cx="9144000" cy="110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460950" y="1215950"/>
            <a:ext cx="8222100" cy="3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Leonard, Matt. “Toyota, Citing Lessons Learned from 2011 Earthquake, Expects No Major Semiconductor Impact.”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Chain Dive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TechTarget, 14 May 2021,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www.supplychaindive.com/news/toyota-semiconductor-shortage-earthquake-inventory-ihs-gartner-forecast-2022/600193/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22 Mar. 2026.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Trudell, Craig. “Toyota Seen Losing $277 Million as Quakes Halt Japan Output.”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Bloomberg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Bloomberg, 17 Apr. 2016,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www.bloomberg.com/news/articles/2016-04-18/toyota-seen-losing-277-million-from-japan-earthquake-stoppages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Accessed 22 Mar. 2026.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Giovanni. “The Last Dance of Just-In-Time?”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Initiative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15 Nov. 2017,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d3.harvard.edu/platform-rctom/submission/the-last-dance-of-just-in-time/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22 Mar. 2026.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Yang, Jun. “Worst Thai Floods in 50 Years Hit Apple, Toyota Supply Chain.”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Bloomberg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Bloomberg, 21 Oct. 2011,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www.bloomberg.com/news/articles/2011-10-20/worst-thai-floods-in-50-years-hit-apple-toyota-supply-chains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22 Mar. 2026.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Trefis Team. “Apple Still On Track For $502 Share Price Despite Thai Floods.”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Forbes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15 Nov. 2011,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www.forbes.com/sites/greatspeculations/2011/11/15/apple-still-on-track-for-502-share-price-despite-thai-floods/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22 Mar. 2026.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 Foresman, Chris. “Thai Flooding Leaves Apple with 2TB Drive Shortage.”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Ars Technica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 Dec. 2011, </a:t>
            </a:r>
            <a:r>
              <a:rPr lang="en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arstechnica.com/gadgets/2011/12/thai-flooding-finally-hits-apple-with-2tb-drive-shortage/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22 Mar. 2026.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3072000" y="3262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</a:t>
            </a:r>
            <a:endParaRPr sz="3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